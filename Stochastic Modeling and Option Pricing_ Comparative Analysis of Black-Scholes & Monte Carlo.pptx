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Figtree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  <p:embeddedFont>
      <p:font typeface="Questrial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x/ifI7UOHtPCkKGw0J3nb9VMn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25CF50-1B81-431D-821A-904D3E203742}">
  <a:tblStyle styleId="{0625CF50-1B81-431D-821A-904D3E2037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Questrial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gtree-bold.fntdata"/><Relationship Id="rId16" Type="http://schemas.openxmlformats.org/officeDocument/2006/relationships/font" Target="fonts/Figtree-regular.fntdata"/><Relationship Id="rId19" Type="http://schemas.openxmlformats.org/officeDocument/2006/relationships/font" Target="fonts/Figtree-boldItalic.fntdata"/><Relationship Id="rId18" Type="http://schemas.openxmlformats.org/officeDocument/2006/relationships/font" Target="fonts/Figtre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e5b19e4af_1_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e5b19e4af_1_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e5b19e4af_1_5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5b19e4af_1_5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e5b19e4af_1_5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e5b19e4af_1_5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e5b19e4af_1_5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e5b19e4af_1_5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e5b19e4af_1_5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e5b19e4af_1_5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e5b19e4af_1_5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ae5b19e4af_1_5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e5b19e4af_1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e5b19e4af_1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ae5b19e4af_1_6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e5b19e4af_1_6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e5b19e4af_1_6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ae5b19e4af_1_6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e5b19e4af_1_6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e5b19e4af_1_6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ae5b19e4af_1_6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ebbc5936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ebbc5936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aebbc5936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e5b19e4af_1_6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e5b19e4af_1_6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ae5b19e4af_1_6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e5b19e4af_1_6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e5b19e4af_1_6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ae5b19e4af_1_6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ae5b19e4af_1_313"/>
          <p:cNvSpPr txBox="1"/>
          <p:nvPr>
            <p:ph type="ctrTitle"/>
          </p:nvPr>
        </p:nvSpPr>
        <p:spPr>
          <a:xfrm>
            <a:off x="713225" y="788063"/>
            <a:ext cx="48948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g3ae5b19e4af_1_313"/>
          <p:cNvSpPr txBox="1"/>
          <p:nvPr>
            <p:ph idx="1" type="subTitle"/>
          </p:nvPr>
        </p:nvSpPr>
        <p:spPr>
          <a:xfrm>
            <a:off x="6244975" y="2626313"/>
            <a:ext cx="21858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" name="Google Shape;15;g3ae5b19e4af_1_3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e5b19e4af_1_317"/>
          <p:cNvSpPr txBox="1"/>
          <p:nvPr>
            <p:ph type="title"/>
          </p:nvPr>
        </p:nvSpPr>
        <p:spPr>
          <a:xfrm>
            <a:off x="2340900" y="788063"/>
            <a:ext cx="4462200" cy="12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ae5b19e4af_1_317"/>
          <p:cNvSpPr txBox="1"/>
          <p:nvPr>
            <p:ph hasCustomPrompt="1" idx="2" type="title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g3ae5b19e4af_1_317"/>
          <p:cNvSpPr txBox="1"/>
          <p:nvPr>
            <p:ph idx="1" type="subTitle"/>
          </p:nvPr>
        </p:nvSpPr>
        <p:spPr>
          <a:xfrm>
            <a:off x="2340900" y="2083813"/>
            <a:ext cx="4462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g3ae5b19e4af_1_321"/>
          <p:cNvGrpSpPr/>
          <p:nvPr/>
        </p:nvGrpSpPr>
        <p:grpSpPr>
          <a:xfrm>
            <a:off x="-133350" y="-27700"/>
            <a:ext cx="9429749" cy="5266450"/>
            <a:chOff x="-133350" y="-27700"/>
            <a:chExt cx="9429749" cy="5266450"/>
          </a:xfrm>
        </p:grpSpPr>
        <p:pic>
          <p:nvPicPr>
            <p:cNvPr id="22" name="Google Shape;22;g3ae5b19e4af_1_321"/>
            <p:cNvPicPr preferRelativeResize="0"/>
            <p:nvPr/>
          </p:nvPicPr>
          <p:blipFill rotWithShape="1">
            <a:blip r:embed="rId2">
              <a:alphaModFix/>
            </a:blip>
            <a:srcRect b="45215" l="3749" r="81263" t="873"/>
            <a:stretch/>
          </p:blipFill>
          <p:spPr>
            <a:xfrm>
              <a:off x="-133350" y="4057700"/>
              <a:ext cx="1370400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g3ae5b19e4af_1_321"/>
            <p:cNvPicPr preferRelativeResize="0"/>
            <p:nvPr/>
          </p:nvPicPr>
          <p:blipFill rotWithShape="1">
            <a:blip r:embed="rId3">
              <a:alphaModFix/>
            </a:blip>
            <a:srcRect b="0" l="0" r="66844" t="68848"/>
            <a:stretch/>
          </p:blipFill>
          <p:spPr>
            <a:xfrm>
              <a:off x="6681600" y="-27700"/>
              <a:ext cx="26147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g3ae5b19e4af_1_3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" name="Google Shape;25;g3ae5b19e4af_1_321"/>
          <p:cNvSpPr txBox="1"/>
          <p:nvPr>
            <p:ph idx="1" type="body"/>
          </p:nvPr>
        </p:nvSpPr>
        <p:spPr>
          <a:xfrm>
            <a:off x="720000" y="1139550"/>
            <a:ext cx="77040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g3ae5b19e4af_1_327"/>
          <p:cNvGrpSpPr/>
          <p:nvPr/>
        </p:nvGrpSpPr>
        <p:grpSpPr>
          <a:xfrm>
            <a:off x="-19050" y="-76200"/>
            <a:ext cx="9296400" cy="5314950"/>
            <a:chOff x="-19050" y="-76200"/>
            <a:chExt cx="9296400" cy="5314950"/>
          </a:xfrm>
        </p:grpSpPr>
        <p:pic>
          <p:nvPicPr>
            <p:cNvPr id="28" name="Google Shape;28;g3ae5b19e4af_1_327"/>
            <p:cNvPicPr preferRelativeResize="0"/>
            <p:nvPr/>
          </p:nvPicPr>
          <p:blipFill rotWithShape="1">
            <a:blip r:embed="rId2">
              <a:alphaModFix/>
            </a:blip>
            <a:srcRect b="45749" l="7876" r="0" t="0"/>
            <a:stretch/>
          </p:blipFill>
          <p:spPr>
            <a:xfrm>
              <a:off x="-19050" y="4317725"/>
              <a:ext cx="8423999" cy="92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g3ae5b19e4af_1_327"/>
            <p:cNvPicPr preferRelativeResize="0"/>
            <p:nvPr/>
          </p:nvPicPr>
          <p:blipFill rotWithShape="1">
            <a:blip r:embed="rId2">
              <a:alphaModFix/>
            </a:blip>
            <a:srcRect b="26013" l="56809" r="0" t="0"/>
            <a:stretch/>
          </p:blipFill>
          <p:spPr>
            <a:xfrm rot="10800000">
              <a:off x="5327975" y="-76200"/>
              <a:ext cx="3949375" cy="125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g3ae5b19e4af_1_3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" name="Google Shape;31;g3ae5b19e4af_1_327"/>
          <p:cNvSpPr txBox="1"/>
          <p:nvPr>
            <p:ph idx="1" type="subTitle"/>
          </p:nvPr>
        </p:nvSpPr>
        <p:spPr>
          <a:xfrm>
            <a:off x="5213675" y="3658731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g3ae5b19e4af_1_327"/>
          <p:cNvSpPr txBox="1"/>
          <p:nvPr>
            <p:ph idx="2" type="subTitle"/>
          </p:nvPr>
        </p:nvSpPr>
        <p:spPr>
          <a:xfrm>
            <a:off x="1424725" y="3658731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" name="Google Shape;33;g3ae5b19e4af_1_327"/>
          <p:cNvSpPr txBox="1"/>
          <p:nvPr>
            <p:ph idx="3" type="subTitle"/>
          </p:nvPr>
        </p:nvSpPr>
        <p:spPr>
          <a:xfrm>
            <a:off x="5213675" y="3293725"/>
            <a:ext cx="2505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g3ae5b19e4af_1_327"/>
          <p:cNvSpPr txBox="1"/>
          <p:nvPr>
            <p:ph idx="4" type="subTitle"/>
          </p:nvPr>
        </p:nvSpPr>
        <p:spPr>
          <a:xfrm>
            <a:off x="1424725" y="3293725"/>
            <a:ext cx="2505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e5b19e4af_1_3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37" name="Google Shape;37;g3ae5b19e4af_1_336"/>
          <p:cNvGrpSpPr/>
          <p:nvPr/>
        </p:nvGrpSpPr>
        <p:grpSpPr>
          <a:xfrm>
            <a:off x="-304800" y="-209550"/>
            <a:ext cx="9486898" cy="5448300"/>
            <a:chOff x="-304800" y="-209550"/>
            <a:chExt cx="9486898" cy="5448300"/>
          </a:xfrm>
        </p:grpSpPr>
        <p:pic>
          <p:nvPicPr>
            <p:cNvPr id="38" name="Google Shape;38;g3ae5b19e4af_1_336"/>
            <p:cNvPicPr preferRelativeResize="0"/>
            <p:nvPr/>
          </p:nvPicPr>
          <p:blipFill rotWithShape="1">
            <a:blip r:embed="rId2">
              <a:alphaModFix/>
            </a:blip>
            <a:srcRect b="4489" l="0" r="6323" t="47391"/>
            <a:stretch/>
          </p:blipFill>
          <p:spPr>
            <a:xfrm flipH="1" rot="10800000">
              <a:off x="-76200" y="4355800"/>
              <a:ext cx="9258298" cy="88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g3ae5b19e4af_1_336"/>
            <p:cNvPicPr preferRelativeResize="0"/>
            <p:nvPr/>
          </p:nvPicPr>
          <p:blipFill rotWithShape="1">
            <a:blip r:embed="rId3">
              <a:alphaModFix/>
            </a:blip>
            <a:srcRect b="10282" l="19503" r="23668" t="29969"/>
            <a:stretch/>
          </p:blipFill>
          <p:spPr>
            <a:xfrm rot="5400000">
              <a:off x="-76200" y="-438150"/>
              <a:ext cx="2228850" cy="2686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e5b19e4af_1_341"/>
          <p:cNvSpPr txBox="1"/>
          <p:nvPr>
            <p:ph type="title"/>
          </p:nvPr>
        </p:nvSpPr>
        <p:spPr>
          <a:xfrm>
            <a:off x="720000" y="445025"/>
            <a:ext cx="46851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2" name="Google Shape;42;g3ae5b19e4af_1_341"/>
          <p:cNvSpPr txBox="1"/>
          <p:nvPr>
            <p:ph idx="1" type="subTitle"/>
          </p:nvPr>
        </p:nvSpPr>
        <p:spPr>
          <a:xfrm>
            <a:off x="720000" y="1427600"/>
            <a:ext cx="46851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3" name="Google Shape;43;g3ae5b19e4af_1_341"/>
          <p:cNvSpPr/>
          <p:nvPr>
            <p:ph idx="2" type="pic"/>
          </p:nvPr>
        </p:nvSpPr>
        <p:spPr>
          <a:xfrm>
            <a:off x="6112497" y="-30250"/>
            <a:ext cx="3042300" cy="5214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4" name="Google Shape;44;g3ae5b19e4af_1_341"/>
          <p:cNvPicPr preferRelativeResize="0"/>
          <p:nvPr/>
        </p:nvPicPr>
        <p:blipFill rotWithShape="1">
          <a:blip r:embed="rId2">
            <a:alphaModFix/>
          </a:blip>
          <a:srcRect b="56278" l="0" r="31328" t="0"/>
          <a:stretch/>
        </p:blipFill>
        <p:spPr>
          <a:xfrm>
            <a:off x="-674375" y="4381500"/>
            <a:ext cx="6786875" cy="8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e5b19e4af_1_346"/>
          <p:cNvSpPr txBox="1"/>
          <p:nvPr>
            <p:ph type="title"/>
          </p:nvPr>
        </p:nvSpPr>
        <p:spPr>
          <a:xfrm>
            <a:off x="713225" y="1067400"/>
            <a:ext cx="5607000" cy="17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e5b19e4af_1_348"/>
          <p:cNvSpPr txBox="1"/>
          <p:nvPr>
            <p:ph type="title"/>
          </p:nvPr>
        </p:nvSpPr>
        <p:spPr>
          <a:xfrm>
            <a:off x="713225" y="788063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9" name="Google Shape;49;g3ae5b19e4af_1_348"/>
          <p:cNvSpPr txBox="1"/>
          <p:nvPr>
            <p:ph idx="1" type="subTitle"/>
          </p:nvPr>
        </p:nvSpPr>
        <p:spPr>
          <a:xfrm>
            <a:off x="713225" y="20838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g3ae5b19e4af_1_348"/>
          <p:cNvPicPr preferRelativeResize="0"/>
          <p:nvPr/>
        </p:nvPicPr>
        <p:blipFill rotWithShape="1">
          <a:blip r:embed="rId2">
            <a:alphaModFix/>
          </a:blip>
          <a:srcRect b="10282" l="19503" r="23668" t="29969"/>
          <a:stretch/>
        </p:blipFill>
        <p:spPr>
          <a:xfrm flipH="1" rot="-5400000">
            <a:off x="6249625" y="-438150"/>
            <a:ext cx="27979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e5b19e4af_1_352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g3ae5b19e4af_1_35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e5b19e4af_1_355"/>
          <p:cNvSpPr txBox="1"/>
          <p:nvPr>
            <p:ph hasCustomPrompt="1" type="title"/>
          </p:nvPr>
        </p:nvSpPr>
        <p:spPr>
          <a:xfrm>
            <a:off x="713225" y="838800"/>
            <a:ext cx="4757100" cy="109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1"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" name="Google Shape;56;g3ae5b19e4af_1_355"/>
          <p:cNvSpPr txBox="1"/>
          <p:nvPr>
            <p:ph idx="1" type="subTitle"/>
          </p:nvPr>
        </p:nvSpPr>
        <p:spPr>
          <a:xfrm>
            <a:off x="713225" y="2010604"/>
            <a:ext cx="4757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57" name="Google Shape;57;g3ae5b19e4af_1_3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ae5b19e4af_1_360"/>
          <p:cNvGrpSpPr/>
          <p:nvPr/>
        </p:nvGrpSpPr>
        <p:grpSpPr>
          <a:xfrm>
            <a:off x="-304775" y="-133351"/>
            <a:ext cx="10705675" cy="5793351"/>
            <a:chOff x="-304775" y="-133351"/>
            <a:chExt cx="10705675" cy="5793351"/>
          </a:xfrm>
        </p:grpSpPr>
        <p:pic>
          <p:nvPicPr>
            <p:cNvPr id="61" name="Google Shape;61;g3ae5b19e4af_1_360"/>
            <p:cNvPicPr preferRelativeResize="0"/>
            <p:nvPr/>
          </p:nvPicPr>
          <p:blipFill rotWithShape="1">
            <a:blip r:embed="rId2">
              <a:alphaModFix/>
            </a:blip>
            <a:srcRect b="0" l="0" r="0" t="60366"/>
            <a:stretch/>
          </p:blipFill>
          <p:spPr>
            <a:xfrm flipH="1">
              <a:off x="-304775" y="-133351"/>
              <a:ext cx="9144001" cy="67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g3ae5b19e4af_1_3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952975" y="3212075"/>
              <a:ext cx="2419350" cy="2476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g3ae5b19e4af_1_3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4" name="Google Shape;64;g3ae5b19e4af_1_360"/>
          <p:cNvSpPr txBox="1"/>
          <p:nvPr>
            <p:ph idx="1" type="subTitle"/>
          </p:nvPr>
        </p:nvSpPr>
        <p:spPr>
          <a:xfrm>
            <a:off x="1591950" y="281440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ae5b19e4af_1_360"/>
          <p:cNvSpPr txBox="1"/>
          <p:nvPr>
            <p:ph idx="2" type="subTitle"/>
          </p:nvPr>
        </p:nvSpPr>
        <p:spPr>
          <a:xfrm>
            <a:off x="1591950" y="170950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ae5b19e4af_1_360"/>
          <p:cNvSpPr txBox="1"/>
          <p:nvPr>
            <p:ph idx="3" type="subTitle"/>
          </p:nvPr>
        </p:nvSpPr>
        <p:spPr>
          <a:xfrm>
            <a:off x="1591950" y="391930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ae5b19e4af_1_360"/>
          <p:cNvSpPr txBox="1"/>
          <p:nvPr>
            <p:ph idx="4" type="subTitle"/>
          </p:nvPr>
        </p:nvSpPr>
        <p:spPr>
          <a:xfrm>
            <a:off x="5344800" y="170950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ae5b19e4af_1_360"/>
          <p:cNvSpPr txBox="1"/>
          <p:nvPr>
            <p:ph idx="5" type="subTitle"/>
          </p:nvPr>
        </p:nvSpPr>
        <p:spPr>
          <a:xfrm>
            <a:off x="5344800" y="281440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ae5b19e4af_1_360"/>
          <p:cNvSpPr txBox="1"/>
          <p:nvPr>
            <p:ph idx="6" type="subTitle"/>
          </p:nvPr>
        </p:nvSpPr>
        <p:spPr>
          <a:xfrm>
            <a:off x="5344800" y="391930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ae5b19e4af_1_360"/>
          <p:cNvSpPr txBox="1"/>
          <p:nvPr>
            <p:ph hasCustomPrompt="1" idx="7" type="title"/>
          </p:nvPr>
        </p:nvSpPr>
        <p:spPr>
          <a:xfrm>
            <a:off x="720000" y="1345001"/>
            <a:ext cx="734700" cy="4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g3ae5b19e4af_1_360"/>
          <p:cNvSpPr txBox="1"/>
          <p:nvPr>
            <p:ph hasCustomPrompt="1" idx="8" type="title"/>
          </p:nvPr>
        </p:nvSpPr>
        <p:spPr>
          <a:xfrm>
            <a:off x="4472850" y="2449906"/>
            <a:ext cx="734700" cy="4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g3ae5b19e4af_1_360"/>
          <p:cNvSpPr txBox="1"/>
          <p:nvPr>
            <p:ph hasCustomPrompt="1" idx="9" type="title"/>
          </p:nvPr>
        </p:nvSpPr>
        <p:spPr>
          <a:xfrm>
            <a:off x="4472850" y="1345001"/>
            <a:ext cx="734700" cy="4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g3ae5b19e4af_1_360"/>
          <p:cNvSpPr txBox="1"/>
          <p:nvPr>
            <p:ph hasCustomPrompt="1" idx="13" type="title"/>
          </p:nvPr>
        </p:nvSpPr>
        <p:spPr>
          <a:xfrm>
            <a:off x="720000" y="2449906"/>
            <a:ext cx="734700" cy="4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g3ae5b19e4af_1_360"/>
          <p:cNvSpPr txBox="1"/>
          <p:nvPr>
            <p:ph hasCustomPrompt="1" idx="14" type="title"/>
          </p:nvPr>
        </p:nvSpPr>
        <p:spPr>
          <a:xfrm>
            <a:off x="4472850" y="3554800"/>
            <a:ext cx="734700" cy="4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g3ae5b19e4af_1_360"/>
          <p:cNvSpPr txBox="1"/>
          <p:nvPr>
            <p:ph hasCustomPrompt="1" idx="15" type="title"/>
          </p:nvPr>
        </p:nvSpPr>
        <p:spPr>
          <a:xfrm>
            <a:off x="720000" y="3554800"/>
            <a:ext cx="734700" cy="48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g3ae5b19e4af_1_360"/>
          <p:cNvSpPr txBox="1"/>
          <p:nvPr>
            <p:ph idx="16" type="subTitle"/>
          </p:nvPr>
        </p:nvSpPr>
        <p:spPr>
          <a:xfrm>
            <a:off x="1591950" y="13450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7" name="Google Shape;77;g3ae5b19e4af_1_360"/>
          <p:cNvSpPr txBox="1"/>
          <p:nvPr>
            <p:ph idx="17" type="subTitle"/>
          </p:nvPr>
        </p:nvSpPr>
        <p:spPr>
          <a:xfrm>
            <a:off x="1591950" y="24499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g3ae5b19e4af_1_360"/>
          <p:cNvSpPr txBox="1"/>
          <p:nvPr>
            <p:ph idx="18" type="subTitle"/>
          </p:nvPr>
        </p:nvSpPr>
        <p:spPr>
          <a:xfrm>
            <a:off x="5344800" y="2449906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g3ae5b19e4af_1_360"/>
          <p:cNvSpPr txBox="1"/>
          <p:nvPr>
            <p:ph idx="19" type="subTitle"/>
          </p:nvPr>
        </p:nvSpPr>
        <p:spPr>
          <a:xfrm>
            <a:off x="1591950" y="35548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0" name="Google Shape;80;g3ae5b19e4af_1_360"/>
          <p:cNvSpPr txBox="1"/>
          <p:nvPr>
            <p:ph idx="20" type="subTitle"/>
          </p:nvPr>
        </p:nvSpPr>
        <p:spPr>
          <a:xfrm>
            <a:off x="5344800" y="1345001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g3ae5b19e4af_1_360"/>
          <p:cNvSpPr txBox="1"/>
          <p:nvPr>
            <p:ph idx="21" type="subTitle"/>
          </p:nvPr>
        </p:nvSpPr>
        <p:spPr>
          <a:xfrm>
            <a:off x="5344800" y="35548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e5b19e4af_1_383"/>
          <p:cNvSpPr txBox="1"/>
          <p:nvPr>
            <p:ph type="title"/>
          </p:nvPr>
        </p:nvSpPr>
        <p:spPr>
          <a:xfrm>
            <a:off x="713225" y="2940300"/>
            <a:ext cx="4397700" cy="4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g3ae5b19e4af_1_383"/>
          <p:cNvSpPr txBox="1"/>
          <p:nvPr>
            <p:ph idx="1" type="subTitle"/>
          </p:nvPr>
        </p:nvSpPr>
        <p:spPr>
          <a:xfrm>
            <a:off x="713225" y="1198700"/>
            <a:ext cx="6691200" cy="15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85" name="Google Shape;85;g3ae5b19e4af_1_3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13549" y="-7927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g3ae5b19e4af_1_387"/>
          <p:cNvGrpSpPr/>
          <p:nvPr/>
        </p:nvGrpSpPr>
        <p:grpSpPr>
          <a:xfrm>
            <a:off x="-610316" y="-95250"/>
            <a:ext cx="3631132" cy="7151546"/>
            <a:chOff x="-610316" y="-95250"/>
            <a:chExt cx="3631132" cy="7151546"/>
          </a:xfrm>
        </p:grpSpPr>
        <p:pic>
          <p:nvPicPr>
            <p:cNvPr id="88" name="Google Shape;88;g3ae5b19e4af_1_387"/>
            <p:cNvPicPr preferRelativeResize="0"/>
            <p:nvPr/>
          </p:nvPicPr>
          <p:blipFill rotWithShape="1">
            <a:blip r:embed="rId2">
              <a:alphaModFix/>
            </a:blip>
            <a:srcRect b="10384" l="0" r="12945" t="48973"/>
            <a:stretch/>
          </p:blipFill>
          <p:spPr>
            <a:xfrm flipH="1">
              <a:off x="-114300" y="-95250"/>
              <a:ext cx="2562900" cy="122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g3ae5b19e4af_1_387"/>
            <p:cNvPicPr preferRelativeResize="0"/>
            <p:nvPr/>
          </p:nvPicPr>
          <p:blipFill rotWithShape="1">
            <a:blip r:embed="rId2">
              <a:alphaModFix/>
            </a:blip>
            <a:srcRect b="10381" l="0" r="0" t="12942"/>
            <a:stretch/>
          </p:blipFill>
          <p:spPr>
            <a:xfrm flipH="1" rot="-7672025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g3ae5b19e4af_1_387"/>
          <p:cNvSpPr txBox="1"/>
          <p:nvPr>
            <p:ph type="title"/>
          </p:nvPr>
        </p:nvSpPr>
        <p:spPr>
          <a:xfrm>
            <a:off x="720000" y="1231800"/>
            <a:ext cx="3595200" cy="169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1" name="Google Shape;91;g3ae5b19e4af_1_387"/>
          <p:cNvSpPr txBox="1"/>
          <p:nvPr>
            <p:ph idx="1" type="subTitle"/>
          </p:nvPr>
        </p:nvSpPr>
        <p:spPr>
          <a:xfrm>
            <a:off x="720000" y="2925600"/>
            <a:ext cx="3595200" cy="9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ae5b19e4af_1_387"/>
          <p:cNvSpPr/>
          <p:nvPr>
            <p:ph idx="2" type="pic"/>
          </p:nvPr>
        </p:nvSpPr>
        <p:spPr>
          <a:xfrm>
            <a:off x="4990950" y="0"/>
            <a:ext cx="41532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g3ae5b19e4af_1_394"/>
          <p:cNvGrpSpPr/>
          <p:nvPr/>
        </p:nvGrpSpPr>
        <p:grpSpPr>
          <a:xfrm>
            <a:off x="-171450" y="-121200"/>
            <a:ext cx="9649500" cy="5398050"/>
            <a:chOff x="-171450" y="-121200"/>
            <a:chExt cx="9649500" cy="5398050"/>
          </a:xfrm>
        </p:grpSpPr>
        <p:pic>
          <p:nvPicPr>
            <p:cNvPr id="95" name="Google Shape;95;g3ae5b19e4af_1_394"/>
            <p:cNvPicPr preferRelativeResize="0"/>
            <p:nvPr/>
          </p:nvPicPr>
          <p:blipFill rotWithShape="1">
            <a:blip r:embed="rId2">
              <a:alphaModFix/>
            </a:blip>
            <a:srcRect b="52455" l="10128" r="35001" t="0"/>
            <a:stretch/>
          </p:blipFill>
          <p:spPr>
            <a:xfrm flipH="1">
              <a:off x="-171450" y="3756725"/>
              <a:ext cx="9448800" cy="1520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g3ae5b19e4af_1_394"/>
            <p:cNvPicPr preferRelativeResize="0"/>
            <p:nvPr/>
          </p:nvPicPr>
          <p:blipFill rotWithShape="1">
            <a:blip r:embed="rId3">
              <a:alphaModFix/>
            </a:blip>
            <a:srcRect b="10380" l="0" r="0" t="54726"/>
            <a:stretch/>
          </p:blipFill>
          <p:spPr>
            <a:xfrm>
              <a:off x="6534150" y="-121200"/>
              <a:ext cx="2943900" cy="105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g3ae5b19e4af_1_394"/>
          <p:cNvSpPr txBox="1"/>
          <p:nvPr>
            <p:ph type="title"/>
          </p:nvPr>
        </p:nvSpPr>
        <p:spPr>
          <a:xfrm>
            <a:off x="720000" y="1454788"/>
            <a:ext cx="2963400" cy="10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8" name="Google Shape;98;g3ae5b19e4af_1_394"/>
          <p:cNvSpPr txBox="1"/>
          <p:nvPr>
            <p:ph idx="1" type="subTitle"/>
          </p:nvPr>
        </p:nvSpPr>
        <p:spPr>
          <a:xfrm>
            <a:off x="720000" y="2506113"/>
            <a:ext cx="2963400" cy="11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ae5b19e4af_1_400"/>
          <p:cNvGrpSpPr/>
          <p:nvPr/>
        </p:nvGrpSpPr>
        <p:grpSpPr>
          <a:xfrm>
            <a:off x="-610316" y="-152400"/>
            <a:ext cx="9925766" cy="7208696"/>
            <a:chOff x="-610316" y="-152400"/>
            <a:chExt cx="9925766" cy="7208696"/>
          </a:xfrm>
        </p:grpSpPr>
        <p:pic>
          <p:nvPicPr>
            <p:cNvPr id="101" name="Google Shape;101;g3ae5b19e4af_1_400"/>
            <p:cNvPicPr preferRelativeResize="0"/>
            <p:nvPr/>
          </p:nvPicPr>
          <p:blipFill rotWithShape="1">
            <a:blip r:embed="rId2">
              <a:alphaModFix/>
            </a:blip>
            <a:srcRect b="52711" l="8518" r="36947" t="0"/>
            <a:stretch/>
          </p:blipFill>
          <p:spPr>
            <a:xfrm rot="10800000">
              <a:off x="-76200" y="-152400"/>
              <a:ext cx="9391650" cy="151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g3ae5b19e4af_1_400"/>
            <p:cNvPicPr preferRelativeResize="0"/>
            <p:nvPr/>
          </p:nvPicPr>
          <p:blipFill rotWithShape="1">
            <a:blip r:embed="rId3">
              <a:alphaModFix/>
            </a:blip>
            <a:srcRect b="10381" l="0" r="0" t="12942"/>
            <a:stretch/>
          </p:blipFill>
          <p:spPr>
            <a:xfrm flipH="1" rot="-7672025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g3ae5b19e4af_1_400"/>
          <p:cNvSpPr txBox="1"/>
          <p:nvPr>
            <p:ph type="title"/>
          </p:nvPr>
        </p:nvSpPr>
        <p:spPr>
          <a:xfrm>
            <a:off x="5467375" y="1642746"/>
            <a:ext cx="2963400" cy="6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g3ae5b19e4af_1_400"/>
          <p:cNvSpPr txBox="1"/>
          <p:nvPr>
            <p:ph idx="1" type="subTitle"/>
          </p:nvPr>
        </p:nvSpPr>
        <p:spPr>
          <a:xfrm>
            <a:off x="5467525" y="2318152"/>
            <a:ext cx="2963400" cy="11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ae5b19e4af_1_406"/>
          <p:cNvGrpSpPr/>
          <p:nvPr/>
        </p:nvGrpSpPr>
        <p:grpSpPr>
          <a:xfrm>
            <a:off x="-422876" y="-1217750"/>
            <a:ext cx="9989751" cy="7140575"/>
            <a:chOff x="-422876" y="-1217750"/>
            <a:chExt cx="9989751" cy="7140575"/>
          </a:xfrm>
        </p:grpSpPr>
        <p:pic>
          <p:nvPicPr>
            <p:cNvPr id="107" name="Google Shape;107;g3ae5b19e4af_1_406"/>
            <p:cNvPicPr preferRelativeResize="0"/>
            <p:nvPr/>
          </p:nvPicPr>
          <p:blipFill rotWithShape="1">
            <a:blip r:embed="rId2">
              <a:alphaModFix/>
            </a:blip>
            <a:srcRect b="10381" l="0" r="0" t="12942"/>
            <a:stretch/>
          </p:blipFill>
          <p:spPr>
            <a:xfrm flipH="1">
              <a:off x="-422875" y="-1217750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g3ae5b19e4af_1_4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422876" y="4068125"/>
              <a:ext cx="9989751" cy="1854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g3ae5b19e4af_1_406"/>
          <p:cNvSpPr txBox="1"/>
          <p:nvPr>
            <p:ph type="title"/>
          </p:nvPr>
        </p:nvSpPr>
        <p:spPr>
          <a:xfrm>
            <a:off x="720000" y="1638083"/>
            <a:ext cx="2963400" cy="6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0" name="Google Shape;110;g3ae5b19e4af_1_406"/>
          <p:cNvSpPr txBox="1"/>
          <p:nvPr>
            <p:ph idx="1" type="subTitle"/>
          </p:nvPr>
        </p:nvSpPr>
        <p:spPr>
          <a:xfrm>
            <a:off x="720000" y="2322800"/>
            <a:ext cx="2963400" cy="11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g3ae5b19e4af_1_412"/>
          <p:cNvGrpSpPr/>
          <p:nvPr/>
        </p:nvGrpSpPr>
        <p:grpSpPr>
          <a:xfrm>
            <a:off x="-133350" y="-27700"/>
            <a:ext cx="9429749" cy="5266450"/>
            <a:chOff x="-133350" y="-27700"/>
            <a:chExt cx="9429749" cy="5266450"/>
          </a:xfrm>
        </p:grpSpPr>
        <p:pic>
          <p:nvPicPr>
            <p:cNvPr id="113" name="Google Shape;113;g3ae5b19e4af_1_412"/>
            <p:cNvPicPr preferRelativeResize="0"/>
            <p:nvPr/>
          </p:nvPicPr>
          <p:blipFill rotWithShape="1">
            <a:blip r:embed="rId2">
              <a:alphaModFix/>
            </a:blip>
            <a:srcRect b="45215" l="3749" r="81263" t="873"/>
            <a:stretch/>
          </p:blipFill>
          <p:spPr>
            <a:xfrm>
              <a:off x="-133350" y="4057700"/>
              <a:ext cx="1370400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g3ae5b19e4af_1_412"/>
            <p:cNvPicPr preferRelativeResize="0"/>
            <p:nvPr/>
          </p:nvPicPr>
          <p:blipFill rotWithShape="1">
            <a:blip r:embed="rId3">
              <a:alphaModFix/>
            </a:blip>
            <a:srcRect b="0" l="0" r="66844" t="68848"/>
            <a:stretch/>
          </p:blipFill>
          <p:spPr>
            <a:xfrm>
              <a:off x="6681600" y="-27700"/>
              <a:ext cx="26147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g3ae5b19e4af_1_4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6" name="Google Shape;116;g3ae5b19e4af_1_412"/>
          <p:cNvSpPr txBox="1"/>
          <p:nvPr>
            <p:ph idx="1" type="body"/>
          </p:nvPr>
        </p:nvSpPr>
        <p:spPr>
          <a:xfrm>
            <a:off x="720000" y="1139550"/>
            <a:ext cx="77040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g3ae5b19e4af_1_418"/>
          <p:cNvGrpSpPr/>
          <p:nvPr/>
        </p:nvGrpSpPr>
        <p:grpSpPr>
          <a:xfrm>
            <a:off x="-642469" y="-875078"/>
            <a:ext cx="10726814" cy="7255366"/>
            <a:chOff x="-642469" y="-875078"/>
            <a:chExt cx="10726814" cy="7255366"/>
          </a:xfrm>
        </p:grpSpPr>
        <p:pic>
          <p:nvPicPr>
            <p:cNvPr id="119" name="Google Shape;119;g3ae5b19e4af_1_418"/>
            <p:cNvPicPr preferRelativeResize="0"/>
            <p:nvPr/>
          </p:nvPicPr>
          <p:blipFill rotWithShape="1">
            <a:blip r:embed="rId2">
              <a:alphaModFix/>
            </a:blip>
            <a:srcRect b="10381" l="0" r="0" t="12942"/>
            <a:stretch/>
          </p:blipFill>
          <p:spPr>
            <a:xfrm flipH="1" rot="4627207">
              <a:off x="7638488" y="-42612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g3ae5b19e4af_1_418"/>
            <p:cNvPicPr preferRelativeResize="0"/>
            <p:nvPr/>
          </p:nvPicPr>
          <p:blipFill rotWithShape="1">
            <a:blip r:embed="rId2">
              <a:alphaModFix/>
            </a:blip>
            <a:srcRect b="10381" l="0" r="0" t="12942"/>
            <a:stretch/>
          </p:blipFill>
          <p:spPr>
            <a:xfrm flipH="1" rot="-6300001">
              <a:off x="-621612" y="397637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g3ae5b19e4af_1_4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2" name="Google Shape;122;g3ae5b19e4af_1_418"/>
          <p:cNvSpPr txBox="1"/>
          <p:nvPr>
            <p:ph idx="1" type="body"/>
          </p:nvPr>
        </p:nvSpPr>
        <p:spPr>
          <a:xfrm>
            <a:off x="720000" y="1139551"/>
            <a:ext cx="77040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g3ae5b19e4af_1_424"/>
          <p:cNvGrpSpPr/>
          <p:nvPr/>
        </p:nvGrpSpPr>
        <p:grpSpPr>
          <a:xfrm>
            <a:off x="7181849" y="-136765"/>
            <a:ext cx="3042517" cy="5680315"/>
            <a:chOff x="7181849" y="-136765"/>
            <a:chExt cx="3042517" cy="5680315"/>
          </a:xfrm>
        </p:grpSpPr>
        <p:pic>
          <p:nvPicPr>
            <p:cNvPr id="125" name="Google Shape;125;g3ae5b19e4af_1_424"/>
            <p:cNvPicPr preferRelativeResize="0"/>
            <p:nvPr/>
          </p:nvPicPr>
          <p:blipFill rotWithShape="1">
            <a:blip r:embed="rId2">
              <a:alphaModFix/>
            </a:blip>
            <a:srcRect b="0" l="68186" r="0" t="63576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g3ae5b19e4af_1_424"/>
            <p:cNvPicPr preferRelativeResize="0"/>
            <p:nvPr/>
          </p:nvPicPr>
          <p:blipFill rotWithShape="1">
            <a:blip r:embed="rId3">
              <a:alphaModFix/>
            </a:blip>
            <a:srcRect b="0" l="33542" r="43749" t="34747"/>
            <a:stretch/>
          </p:blipFill>
          <p:spPr>
            <a:xfrm rot="10800000">
              <a:off x="7181849" y="4114050"/>
              <a:ext cx="2076451" cy="142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g3ae5b19e4af_1_4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8" name="Google Shape;128;g3ae5b19e4af_1_424"/>
          <p:cNvSpPr txBox="1"/>
          <p:nvPr>
            <p:ph idx="1" type="subTitle"/>
          </p:nvPr>
        </p:nvSpPr>
        <p:spPr>
          <a:xfrm>
            <a:off x="5064875" y="3103354"/>
            <a:ext cx="26505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ae5b19e4af_1_424"/>
          <p:cNvSpPr txBox="1"/>
          <p:nvPr>
            <p:ph idx="2" type="subTitle"/>
          </p:nvPr>
        </p:nvSpPr>
        <p:spPr>
          <a:xfrm>
            <a:off x="1275936" y="3103356"/>
            <a:ext cx="26505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ae5b19e4af_1_424"/>
          <p:cNvSpPr txBox="1"/>
          <p:nvPr>
            <p:ph idx="3" type="subTitle"/>
          </p:nvPr>
        </p:nvSpPr>
        <p:spPr>
          <a:xfrm>
            <a:off x="1275925" y="2738350"/>
            <a:ext cx="2650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1" name="Google Shape;131;g3ae5b19e4af_1_424"/>
          <p:cNvSpPr txBox="1"/>
          <p:nvPr>
            <p:ph idx="4" type="subTitle"/>
          </p:nvPr>
        </p:nvSpPr>
        <p:spPr>
          <a:xfrm>
            <a:off x="5064885" y="2738350"/>
            <a:ext cx="2650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ae5b19e4af_1_433"/>
          <p:cNvGrpSpPr/>
          <p:nvPr/>
        </p:nvGrpSpPr>
        <p:grpSpPr>
          <a:xfrm>
            <a:off x="952500" y="-324600"/>
            <a:ext cx="8590400" cy="5563350"/>
            <a:chOff x="952500" y="-324600"/>
            <a:chExt cx="8590400" cy="5563350"/>
          </a:xfrm>
        </p:grpSpPr>
        <p:pic>
          <p:nvPicPr>
            <p:cNvPr id="134" name="Google Shape;134;g3ae5b19e4af_1_433"/>
            <p:cNvPicPr preferRelativeResize="0"/>
            <p:nvPr/>
          </p:nvPicPr>
          <p:blipFill rotWithShape="1">
            <a:blip r:embed="rId2">
              <a:alphaModFix/>
            </a:blip>
            <a:srcRect b="0" l="0" r="8958" t="66087"/>
            <a:stretch/>
          </p:blipFill>
          <p:spPr>
            <a:xfrm flipH="1" rot="10800000">
              <a:off x="95250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g3ae5b19e4af_1_433"/>
            <p:cNvPicPr preferRelativeResize="0"/>
            <p:nvPr/>
          </p:nvPicPr>
          <p:blipFill rotWithShape="1">
            <a:blip r:embed="rId3">
              <a:alphaModFix/>
            </a:blip>
            <a:srcRect b="0" l="60385" r="2175" t="69960"/>
            <a:stretch/>
          </p:blipFill>
          <p:spPr>
            <a:xfrm rot="10800000">
              <a:off x="6590151" y="-324600"/>
              <a:ext cx="2952749" cy="864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g3ae5b19e4af_1_4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37" name="Google Shape;137;g3ae5b19e4af_1_433"/>
          <p:cNvSpPr txBox="1"/>
          <p:nvPr>
            <p:ph idx="1" type="subTitle"/>
          </p:nvPr>
        </p:nvSpPr>
        <p:spPr>
          <a:xfrm>
            <a:off x="4600075" y="2183900"/>
            <a:ext cx="38241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ae5b19e4af_1_433"/>
          <p:cNvSpPr txBox="1"/>
          <p:nvPr>
            <p:ph idx="2" type="subTitle"/>
          </p:nvPr>
        </p:nvSpPr>
        <p:spPr>
          <a:xfrm>
            <a:off x="720000" y="2183900"/>
            <a:ext cx="38241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ae5b19e4af_1_433"/>
          <p:cNvSpPr txBox="1"/>
          <p:nvPr>
            <p:ph idx="3" type="subTitle"/>
          </p:nvPr>
        </p:nvSpPr>
        <p:spPr>
          <a:xfrm>
            <a:off x="720000" y="1358400"/>
            <a:ext cx="7704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g3ae5b19e4af_1_441"/>
          <p:cNvGrpSpPr/>
          <p:nvPr/>
        </p:nvGrpSpPr>
        <p:grpSpPr>
          <a:xfrm>
            <a:off x="-95250" y="-27700"/>
            <a:ext cx="9334499" cy="5266450"/>
            <a:chOff x="-95250" y="-27700"/>
            <a:chExt cx="9334499" cy="5266450"/>
          </a:xfrm>
        </p:grpSpPr>
        <p:pic>
          <p:nvPicPr>
            <p:cNvPr id="142" name="Google Shape;142;g3ae5b19e4af_1_441"/>
            <p:cNvPicPr preferRelativeResize="0"/>
            <p:nvPr/>
          </p:nvPicPr>
          <p:blipFill rotWithShape="1">
            <a:blip r:embed="rId2">
              <a:alphaModFix/>
            </a:blip>
            <a:srcRect b="45215" l="4168" r="17467" t="873"/>
            <a:stretch/>
          </p:blipFill>
          <p:spPr>
            <a:xfrm>
              <a:off x="-95250" y="4057700"/>
              <a:ext cx="7165275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g3ae5b19e4af_1_441"/>
            <p:cNvPicPr preferRelativeResize="0"/>
            <p:nvPr/>
          </p:nvPicPr>
          <p:blipFill rotWithShape="1">
            <a:blip r:embed="rId3">
              <a:alphaModFix/>
            </a:blip>
            <a:srcRect b="0" l="0" r="54767" t="68848"/>
            <a:stretch/>
          </p:blipFill>
          <p:spPr>
            <a:xfrm>
              <a:off x="5671950" y="-27700"/>
              <a:ext cx="35672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g3ae5b19e4af_1_4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5" name="Google Shape;145;g3ae5b19e4af_1_441"/>
          <p:cNvSpPr txBox="1"/>
          <p:nvPr>
            <p:ph idx="1" type="subTitle"/>
          </p:nvPr>
        </p:nvSpPr>
        <p:spPr>
          <a:xfrm>
            <a:off x="713225" y="310335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ae5b19e4af_1_441"/>
          <p:cNvSpPr txBox="1"/>
          <p:nvPr>
            <p:ph idx="2" type="subTitle"/>
          </p:nvPr>
        </p:nvSpPr>
        <p:spPr>
          <a:xfrm>
            <a:off x="3430198" y="310335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ae5b19e4af_1_441"/>
          <p:cNvSpPr txBox="1"/>
          <p:nvPr>
            <p:ph idx="3" type="subTitle"/>
          </p:nvPr>
        </p:nvSpPr>
        <p:spPr>
          <a:xfrm>
            <a:off x="6140400" y="310335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ae5b19e4af_1_441"/>
          <p:cNvSpPr txBox="1"/>
          <p:nvPr>
            <p:ph idx="4" type="subTitle"/>
          </p:nvPr>
        </p:nvSpPr>
        <p:spPr>
          <a:xfrm>
            <a:off x="713225" y="2738350"/>
            <a:ext cx="2283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9" name="Google Shape;149;g3ae5b19e4af_1_441"/>
          <p:cNvSpPr txBox="1"/>
          <p:nvPr>
            <p:ph idx="5" type="subTitle"/>
          </p:nvPr>
        </p:nvSpPr>
        <p:spPr>
          <a:xfrm>
            <a:off x="3430364" y="2738350"/>
            <a:ext cx="2283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0" name="Google Shape;150;g3ae5b19e4af_1_441"/>
          <p:cNvSpPr txBox="1"/>
          <p:nvPr>
            <p:ph idx="6" type="subTitle"/>
          </p:nvPr>
        </p:nvSpPr>
        <p:spPr>
          <a:xfrm>
            <a:off x="6140400" y="2738350"/>
            <a:ext cx="2283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g3ae5b19e4af_1_452"/>
          <p:cNvGrpSpPr/>
          <p:nvPr/>
        </p:nvGrpSpPr>
        <p:grpSpPr>
          <a:xfrm>
            <a:off x="-171450" y="-136765"/>
            <a:ext cx="10395816" cy="5375515"/>
            <a:chOff x="-171450" y="-136765"/>
            <a:chExt cx="10395816" cy="5375515"/>
          </a:xfrm>
        </p:grpSpPr>
        <p:pic>
          <p:nvPicPr>
            <p:cNvPr id="153" name="Google Shape;153;g3ae5b19e4af_1_452"/>
            <p:cNvPicPr preferRelativeResize="0"/>
            <p:nvPr/>
          </p:nvPicPr>
          <p:blipFill rotWithShape="1">
            <a:blip r:embed="rId2">
              <a:alphaModFix/>
            </a:blip>
            <a:srcRect b="0" l="0" r="8958" t="66087"/>
            <a:stretch/>
          </p:blipFill>
          <p:spPr>
            <a:xfrm rot="10800000">
              <a:off x="-17145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g3ae5b19e4af_1_452"/>
            <p:cNvPicPr preferRelativeResize="0"/>
            <p:nvPr/>
          </p:nvPicPr>
          <p:blipFill rotWithShape="1">
            <a:blip r:embed="rId3">
              <a:alphaModFix/>
            </a:blip>
            <a:srcRect b="0" l="68186" r="0" t="63576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g3ae5b19e4af_1_4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6" name="Google Shape;156;g3ae5b19e4af_1_452"/>
          <p:cNvSpPr txBox="1"/>
          <p:nvPr>
            <p:ph idx="1" type="subTitle"/>
          </p:nvPr>
        </p:nvSpPr>
        <p:spPr>
          <a:xfrm>
            <a:off x="1940229" y="199040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ae5b19e4af_1_452"/>
          <p:cNvSpPr txBox="1"/>
          <p:nvPr>
            <p:ph idx="2" type="subTitle"/>
          </p:nvPr>
        </p:nvSpPr>
        <p:spPr>
          <a:xfrm>
            <a:off x="6282482" y="199040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ae5b19e4af_1_452"/>
          <p:cNvSpPr txBox="1"/>
          <p:nvPr>
            <p:ph idx="3" type="subTitle"/>
          </p:nvPr>
        </p:nvSpPr>
        <p:spPr>
          <a:xfrm>
            <a:off x="1940229" y="354385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ae5b19e4af_1_452"/>
          <p:cNvSpPr txBox="1"/>
          <p:nvPr>
            <p:ph idx="4" type="subTitle"/>
          </p:nvPr>
        </p:nvSpPr>
        <p:spPr>
          <a:xfrm>
            <a:off x="6282482" y="354385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ae5b19e4af_1_452"/>
          <p:cNvSpPr txBox="1"/>
          <p:nvPr>
            <p:ph idx="5" type="subTitle"/>
          </p:nvPr>
        </p:nvSpPr>
        <p:spPr>
          <a:xfrm>
            <a:off x="1940218" y="1625400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1" name="Google Shape;161;g3ae5b19e4af_1_452"/>
          <p:cNvSpPr txBox="1"/>
          <p:nvPr>
            <p:ph idx="6" type="subTitle"/>
          </p:nvPr>
        </p:nvSpPr>
        <p:spPr>
          <a:xfrm>
            <a:off x="1940218" y="3178850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" name="Google Shape;162;g3ae5b19e4af_1_452"/>
          <p:cNvSpPr txBox="1"/>
          <p:nvPr>
            <p:ph idx="7" type="subTitle"/>
          </p:nvPr>
        </p:nvSpPr>
        <p:spPr>
          <a:xfrm>
            <a:off x="6282468" y="1625400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g3ae5b19e4af_1_452"/>
          <p:cNvSpPr txBox="1"/>
          <p:nvPr>
            <p:ph idx="8" type="subTitle"/>
          </p:nvPr>
        </p:nvSpPr>
        <p:spPr>
          <a:xfrm>
            <a:off x="6282468" y="3178850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ae5b19e4af_1_465"/>
          <p:cNvGrpSpPr/>
          <p:nvPr/>
        </p:nvGrpSpPr>
        <p:grpSpPr>
          <a:xfrm>
            <a:off x="-114300" y="-95250"/>
            <a:ext cx="9390501" cy="5295900"/>
            <a:chOff x="-114300" y="-95250"/>
            <a:chExt cx="9390501" cy="5295900"/>
          </a:xfrm>
        </p:grpSpPr>
        <p:pic>
          <p:nvPicPr>
            <p:cNvPr id="166" name="Google Shape;166;g3ae5b19e4af_1_465"/>
            <p:cNvPicPr preferRelativeResize="0"/>
            <p:nvPr/>
          </p:nvPicPr>
          <p:blipFill rotWithShape="1">
            <a:blip r:embed="rId2">
              <a:alphaModFix/>
            </a:blip>
            <a:srcRect b="3716" l="23283" r="0" t="0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g3ae5b19e4af_1_465"/>
            <p:cNvPicPr preferRelativeResize="0"/>
            <p:nvPr/>
          </p:nvPicPr>
          <p:blipFill rotWithShape="1">
            <a:blip r:embed="rId3">
              <a:alphaModFix/>
            </a:blip>
            <a:srcRect b="10381" l="21414" r="37818" t="39417"/>
            <a:stretch/>
          </p:blipFill>
          <p:spPr>
            <a:xfrm flipH="1" rot="-5400000">
              <a:off x="42037" y="3844163"/>
              <a:ext cx="1200150" cy="1512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g3ae5b19e4af_1_4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9" name="Google Shape;169;g3ae5b19e4af_1_465"/>
          <p:cNvSpPr txBox="1"/>
          <p:nvPr>
            <p:ph idx="1" type="subTitle"/>
          </p:nvPr>
        </p:nvSpPr>
        <p:spPr>
          <a:xfrm>
            <a:off x="789775" y="1965075"/>
            <a:ext cx="2174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ae5b19e4af_1_465"/>
          <p:cNvSpPr txBox="1"/>
          <p:nvPr>
            <p:ph idx="2" type="subTitle"/>
          </p:nvPr>
        </p:nvSpPr>
        <p:spPr>
          <a:xfrm>
            <a:off x="3483900" y="1965075"/>
            <a:ext cx="2176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ae5b19e4af_1_465"/>
          <p:cNvSpPr txBox="1"/>
          <p:nvPr>
            <p:ph idx="3" type="subTitle"/>
          </p:nvPr>
        </p:nvSpPr>
        <p:spPr>
          <a:xfrm>
            <a:off x="789775" y="3518525"/>
            <a:ext cx="2174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ae5b19e4af_1_465"/>
          <p:cNvSpPr txBox="1"/>
          <p:nvPr>
            <p:ph idx="4" type="subTitle"/>
          </p:nvPr>
        </p:nvSpPr>
        <p:spPr>
          <a:xfrm>
            <a:off x="3483900" y="3518525"/>
            <a:ext cx="2176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ae5b19e4af_1_465"/>
          <p:cNvSpPr txBox="1"/>
          <p:nvPr>
            <p:ph idx="5" type="subTitle"/>
          </p:nvPr>
        </p:nvSpPr>
        <p:spPr>
          <a:xfrm>
            <a:off x="6180125" y="1965075"/>
            <a:ext cx="2178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ae5b19e4af_1_465"/>
          <p:cNvSpPr txBox="1"/>
          <p:nvPr>
            <p:ph idx="6" type="subTitle"/>
          </p:nvPr>
        </p:nvSpPr>
        <p:spPr>
          <a:xfrm>
            <a:off x="6180125" y="3518525"/>
            <a:ext cx="21780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3ae5b19e4af_1_465"/>
          <p:cNvSpPr txBox="1"/>
          <p:nvPr>
            <p:ph idx="7" type="subTitle"/>
          </p:nvPr>
        </p:nvSpPr>
        <p:spPr>
          <a:xfrm>
            <a:off x="789775" y="1600075"/>
            <a:ext cx="2172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6" name="Google Shape;176;g3ae5b19e4af_1_465"/>
          <p:cNvSpPr txBox="1"/>
          <p:nvPr>
            <p:ph idx="8" type="subTitle"/>
          </p:nvPr>
        </p:nvSpPr>
        <p:spPr>
          <a:xfrm>
            <a:off x="3483900" y="1600075"/>
            <a:ext cx="2174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7" name="Google Shape;177;g3ae5b19e4af_1_465"/>
          <p:cNvSpPr txBox="1"/>
          <p:nvPr>
            <p:ph idx="9" type="subTitle"/>
          </p:nvPr>
        </p:nvSpPr>
        <p:spPr>
          <a:xfrm>
            <a:off x="6180125" y="1600075"/>
            <a:ext cx="2176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" name="Google Shape;178;g3ae5b19e4af_1_465"/>
          <p:cNvSpPr txBox="1"/>
          <p:nvPr>
            <p:ph idx="13" type="subTitle"/>
          </p:nvPr>
        </p:nvSpPr>
        <p:spPr>
          <a:xfrm>
            <a:off x="789775" y="3153525"/>
            <a:ext cx="2172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g3ae5b19e4af_1_465"/>
          <p:cNvSpPr txBox="1"/>
          <p:nvPr>
            <p:ph idx="14" type="subTitle"/>
          </p:nvPr>
        </p:nvSpPr>
        <p:spPr>
          <a:xfrm>
            <a:off x="3483900" y="3153525"/>
            <a:ext cx="2174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g3ae5b19e4af_1_465"/>
          <p:cNvSpPr txBox="1"/>
          <p:nvPr>
            <p:ph idx="15" type="subTitle"/>
          </p:nvPr>
        </p:nvSpPr>
        <p:spPr>
          <a:xfrm>
            <a:off x="6180125" y="3153525"/>
            <a:ext cx="2176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g3ae5b19e4af_1_482"/>
          <p:cNvGrpSpPr/>
          <p:nvPr/>
        </p:nvGrpSpPr>
        <p:grpSpPr>
          <a:xfrm>
            <a:off x="-457200" y="-171450"/>
            <a:ext cx="9660074" cy="5409649"/>
            <a:chOff x="-457200" y="-171450"/>
            <a:chExt cx="9660074" cy="5409649"/>
          </a:xfrm>
        </p:grpSpPr>
        <p:pic>
          <p:nvPicPr>
            <p:cNvPr id="183" name="Google Shape;183;g3ae5b19e4af_1_482"/>
            <p:cNvPicPr preferRelativeResize="0"/>
            <p:nvPr/>
          </p:nvPicPr>
          <p:blipFill rotWithShape="1">
            <a:blip r:embed="rId2">
              <a:alphaModFix/>
            </a:blip>
            <a:srcRect b="0" l="0" r="58221" t="41540"/>
            <a:stretch/>
          </p:blipFill>
          <p:spPr>
            <a:xfrm>
              <a:off x="7022175" y="-95250"/>
              <a:ext cx="2180699" cy="1112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g3ae5b19e4af_1_482"/>
            <p:cNvPicPr preferRelativeResize="0"/>
            <p:nvPr/>
          </p:nvPicPr>
          <p:blipFill rotWithShape="1">
            <a:blip r:embed="rId2">
              <a:alphaModFix/>
            </a:blip>
            <a:srcRect b="0" l="63001" r="0" t="0"/>
            <a:stretch/>
          </p:blipFill>
          <p:spPr>
            <a:xfrm>
              <a:off x="-114300" y="3334400"/>
              <a:ext cx="1931250" cy="190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g3ae5b19e4af_1_482"/>
            <p:cNvPicPr preferRelativeResize="0"/>
            <p:nvPr/>
          </p:nvPicPr>
          <p:blipFill rotWithShape="1">
            <a:blip r:embed="rId3">
              <a:alphaModFix/>
            </a:blip>
            <a:srcRect b="31548" l="0" r="67916" t="31058"/>
            <a:stretch/>
          </p:blipFill>
          <p:spPr>
            <a:xfrm flipH="1" rot="10800000">
              <a:off x="-457200" y="-171450"/>
              <a:ext cx="2933698" cy="819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g3ae5b19e4af_1_4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g3ae5b19e4af_1_488"/>
          <p:cNvGrpSpPr/>
          <p:nvPr/>
        </p:nvGrpSpPr>
        <p:grpSpPr>
          <a:xfrm>
            <a:off x="-114300" y="-95250"/>
            <a:ext cx="9390501" cy="5238750"/>
            <a:chOff x="-114300" y="-95250"/>
            <a:chExt cx="9390501" cy="5238750"/>
          </a:xfrm>
        </p:grpSpPr>
        <p:pic>
          <p:nvPicPr>
            <p:cNvPr id="189" name="Google Shape;189;g3ae5b19e4af_1_488"/>
            <p:cNvPicPr preferRelativeResize="0"/>
            <p:nvPr/>
          </p:nvPicPr>
          <p:blipFill rotWithShape="1">
            <a:blip r:embed="rId2">
              <a:alphaModFix/>
            </a:blip>
            <a:srcRect b="3716" l="23283" r="0" t="0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g3ae5b19e4af_1_488"/>
            <p:cNvPicPr preferRelativeResize="0"/>
            <p:nvPr/>
          </p:nvPicPr>
          <p:blipFill rotWithShape="1">
            <a:blip r:embed="rId2">
              <a:alphaModFix/>
            </a:blip>
            <a:srcRect b="13139" l="31330" r="24466" t="55929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g3ae5b19e4af_1_48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g3ae5b19e4af_1_493"/>
          <p:cNvGrpSpPr/>
          <p:nvPr/>
        </p:nvGrpSpPr>
        <p:grpSpPr>
          <a:xfrm>
            <a:off x="-171450" y="-152400"/>
            <a:ext cx="9829800" cy="5467350"/>
            <a:chOff x="-171450" y="-152400"/>
            <a:chExt cx="9829800" cy="5467350"/>
          </a:xfrm>
        </p:grpSpPr>
        <p:pic>
          <p:nvPicPr>
            <p:cNvPr id="194" name="Google Shape;194;g3ae5b19e4af_1_493"/>
            <p:cNvPicPr preferRelativeResize="0"/>
            <p:nvPr/>
          </p:nvPicPr>
          <p:blipFill rotWithShape="1">
            <a:blip r:embed="rId2">
              <a:alphaModFix/>
            </a:blip>
            <a:srcRect b="45749" l="7876" r="0" t="0"/>
            <a:stretch/>
          </p:blipFill>
          <p:spPr>
            <a:xfrm>
              <a:off x="-171450" y="4393925"/>
              <a:ext cx="8423999" cy="92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g3ae5b19e4af_1_493"/>
            <p:cNvPicPr preferRelativeResize="0"/>
            <p:nvPr/>
          </p:nvPicPr>
          <p:blipFill rotWithShape="1">
            <a:blip r:embed="rId2">
              <a:alphaModFix/>
            </a:blip>
            <a:srcRect b="26013" l="56809" r="0" t="0"/>
            <a:stretch/>
          </p:blipFill>
          <p:spPr>
            <a:xfrm rot="10800000">
              <a:off x="5708975" y="-152400"/>
              <a:ext cx="3949375" cy="125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g3ae5b19e4af_1_4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5b19e4af_1_4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99" name="Google Shape;199;g3ae5b19e4af_1_498"/>
          <p:cNvGrpSpPr/>
          <p:nvPr/>
        </p:nvGrpSpPr>
        <p:grpSpPr>
          <a:xfrm flipH="1" rot="10800000">
            <a:off x="-38100" y="-19050"/>
            <a:ext cx="9390501" cy="5391150"/>
            <a:chOff x="-114300" y="-247650"/>
            <a:chExt cx="9390501" cy="5391150"/>
          </a:xfrm>
        </p:grpSpPr>
        <p:pic>
          <p:nvPicPr>
            <p:cNvPr id="200" name="Google Shape;200;g3ae5b19e4af_1_498"/>
            <p:cNvPicPr preferRelativeResize="0"/>
            <p:nvPr/>
          </p:nvPicPr>
          <p:blipFill rotWithShape="1">
            <a:blip r:embed="rId2">
              <a:alphaModFix/>
            </a:blip>
            <a:srcRect b="3716" l="23283" r="0" t="0"/>
            <a:stretch/>
          </p:blipFill>
          <p:spPr>
            <a:xfrm rot="10800000">
              <a:off x="6267450" y="-2476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g3ae5b19e4af_1_498"/>
            <p:cNvPicPr preferRelativeResize="0"/>
            <p:nvPr/>
          </p:nvPicPr>
          <p:blipFill rotWithShape="1">
            <a:blip r:embed="rId2">
              <a:alphaModFix/>
            </a:blip>
            <a:srcRect b="13139" l="31330" r="24466" t="55929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g3ae5b19e4af_1_503"/>
          <p:cNvGrpSpPr/>
          <p:nvPr/>
        </p:nvGrpSpPr>
        <p:grpSpPr>
          <a:xfrm>
            <a:off x="-171450" y="-114300"/>
            <a:ext cx="9486900" cy="5372100"/>
            <a:chOff x="-171450" y="-114300"/>
            <a:chExt cx="9486900" cy="5372100"/>
          </a:xfrm>
        </p:grpSpPr>
        <p:pic>
          <p:nvPicPr>
            <p:cNvPr id="204" name="Google Shape;204;g3ae5b19e4af_1_503"/>
            <p:cNvPicPr preferRelativeResize="0"/>
            <p:nvPr/>
          </p:nvPicPr>
          <p:blipFill rotWithShape="1">
            <a:blip r:embed="rId2">
              <a:alphaModFix/>
            </a:blip>
            <a:srcRect b="10381" l="0" r="16177" t="12942"/>
            <a:stretch/>
          </p:blipFill>
          <p:spPr>
            <a:xfrm flipH="1">
              <a:off x="-171450" y="-114300"/>
              <a:ext cx="246765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g3ae5b19e4af_1_503"/>
            <p:cNvPicPr preferRelativeResize="0"/>
            <p:nvPr/>
          </p:nvPicPr>
          <p:blipFill rotWithShape="1">
            <a:blip r:embed="rId2">
              <a:alphaModFix/>
            </a:blip>
            <a:srcRect b="0" l="15655" r="25378" t="33114"/>
            <a:stretch/>
          </p:blipFill>
          <p:spPr>
            <a:xfrm rot="5400000">
              <a:off x="6701250" y="2643600"/>
              <a:ext cx="2419350" cy="280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g3ae5b19e4af_1_503"/>
          <p:cNvSpPr txBox="1"/>
          <p:nvPr>
            <p:ph hasCustomPrompt="1" type="title"/>
          </p:nvPr>
        </p:nvSpPr>
        <p:spPr>
          <a:xfrm>
            <a:off x="2223600" y="53950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g3ae5b19e4af_1_503"/>
          <p:cNvSpPr txBox="1"/>
          <p:nvPr>
            <p:ph idx="1" type="subTitle"/>
          </p:nvPr>
        </p:nvSpPr>
        <p:spPr>
          <a:xfrm>
            <a:off x="2223600" y="1228426"/>
            <a:ext cx="46968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g3ae5b19e4af_1_503"/>
          <p:cNvSpPr txBox="1"/>
          <p:nvPr>
            <p:ph hasCustomPrompt="1" idx="2" type="title"/>
          </p:nvPr>
        </p:nvSpPr>
        <p:spPr>
          <a:xfrm>
            <a:off x="2223600" y="201368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g3ae5b19e4af_1_503"/>
          <p:cNvSpPr txBox="1"/>
          <p:nvPr>
            <p:ph idx="3" type="subTitle"/>
          </p:nvPr>
        </p:nvSpPr>
        <p:spPr>
          <a:xfrm>
            <a:off x="2223600" y="2702611"/>
            <a:ext cx="46968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g3ae5b19e4af_1_503"/>
          <p:cNvSpPr txBox="1"/>
          <p:nvPr>
            <p:ph hasCustomPrompt="1" idx="4" type="title"/>
          </p:nvPr>
        </p:nvSpPr>
        <p:spPr>
          <a:xfrm>
            <a:off x="2223600" y="348786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1" name="Google Shape;211;g3ae5b19e4af_1_503"/>
          <p:cNvSpPr txBox="1"/>
          <p:nvPr>
            <p:ph idx="5" type="subTitle"/>
          </p:nvPr>
        </p:nvSpPr>
        <p:spPr>
          <a:xfrm>
            <a:off x="2223600" y="4176797"/>
            <a:ext cx="46968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g3ae5b19e4af_1_513"/>
          <p:cNvGrpSpPr/>
          <p:nvPr/>
        </p:nvGrpSpPr>
        <p:grpSpPr>
          <a:xfrm>
            <a:off x="-237299" y="-869075"/>
            <a:ext cx="10132447" cy="6299826"/>
            <a:chOff x="-237299" y="-869075"/>
            <a:chExt cx="10132447" cy="6299826"/>
          </a:xfrm>
        </p:grpSpPr>
        <p:pic>
          <p:nvPicPr>
            <p:cNvPr id="214" name="Google Shape;214;g3ae5b19e4af_1_5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10575735">
              <a:off x="-187256" y="-544053"/>
              <a:ext cx="10032361" cy="186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g3ae5b19e4af_1_5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7263151" y="3402775"/>
              <a:ext cx="1981200" cy="2027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g3ae5b19e4af_1_513"/>
          <p:cNvSpPr txBox="1"/>
          <p:nvPr>
            <p:ph type="title"/>
          </p:nvPr>
        </p:nvSpPr>
        <p:spPr>
          <a:xfrm>
            <a:off x="713254" y="1491175"/>
            <a:ext cx="3190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7" name="Google Shape;217;g3ae5b19e4af_1_513"/>
          <p:cNvSpPr txBox="1"/>
          <p:nvPr>
            <p:ph idx="1" type="subTitle"/>
          </p:nvPr>
        </p:nvSpPr>
        <p:spPr>
          <a:xfrm>
            <a:off x="713250" y="2621375"/>
            <a:ext cx="31908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ae5b19e4af_1_513"/>
          <p:cNvSpPr txBox="1"/>
          <p:nvPr/>
        </p:nvSpPr>
        <p:spPr>
          <a:xfrm>
            <a:off x="4003050" y="2452350"/>
            <a:ext cx="35040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</a:t>
            </a:r>
            <a:r>
              <a:rPr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This presentation template was created by </a:t>
            </a:r>
            <a:r>
              <a:rPr b="1" lang="en-U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icons by </a:t>
            </a:r>
            <a:r>
              <a:rPr b="1" lang="en-U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infographics &amp; images by </a:t>
            </a:r>
            <a:r>
              <a:rPr b="1" lang="en-U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US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b="1" sz="1200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g3ae5b19e4af_1_520"/>
          <p:cNvGrpSpPr/>
          <p:nvPr/>
        </p:nvGrpSpPr>
        <p:grpSpPr>
          <a:xfrm>
            <a:off x="-362025" y="0"/>
            <a:ext cx="9506024" cy="5238750"/>
            <a:chOff x="-362025" y="0"/>
            <a:chExt cx="9506024" cy="5238750"/>
          </a:xfrm>
        </p:grpSpPr>
        <p:pic>
          <p:nvPicPr>
            <p:cNvPr id="221" name="Google Shape;221;g3ae5b19e4af_1_520"/>
            <p:cNvPicPr preferRelativeResize="0"/>
            <p:nvPr/>
          </p:nvPicPr>
          <p:blipFill rotWithShape="1">
            <a:blip r:embed="rId2">
              <a:alphaModFix/>
            </a:blip>
            <a:srcRect b="0" l="0" r="18126" t="34490"/>
            <a:stretch/>
          </p:blipFill>
          <p:spPr>
            <a:xfrm>
              <a:off x="1657275" y="0"/>
              <a:ext cx="7486724" cy="143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g3ae5b19e4af_1_5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62025" y="2362200"/>
              <a:ext cx="7886700" cy="2876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g3ae5b19e4af_1_524"/>
          <p:cNvGrpSpPr/>
          <p:nvPr/>
        </p:nvGrpSpPr>
        <p:grpSpPr>
          <a:xfrm>
            <a:off x="-76199" y="-268320"/>
            <a:ext cx="9363849" cy="5526120"/>
            <a:chOff x="-76199" y="-268320"/>
            <a:chExt cx="9363849" cy="5526120"/>
          </a:xfrm>
        </p:grpSpPr>
        <p:pic>
          <p:nvPicPr>
            <p:cNvPr id="225" name="Google Shape;225;g3ae5b19e4af_1_5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76199" y="114300"/>
              <a:ext cx="4487047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g3ae5b19e4af_1_5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2600" y="-268320"/>
              <a:ext cx="3125050" cy="31988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e5b19e4af_1_3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1" name="Google Shape;11;g3ae5b19e4af_1_31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5b19e4af_1_529"/>
          <p:cNvSpPr txBox="1"/>
          <p:nvPr>
            <p:ph type="ctrTitle"/>
          </p:nvPr>
        </p:nvSpPr>
        <p:spPr>
          <a:xfrm>
            <a:off x="713225" y="788063"/>
            <a:ext cx="48948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62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Stochastic Modeling and Option Pricing</a:t>
            </a:r>
            <a:endParaRPr b="1" sz="2862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62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4" name="Google Shape;234;g3ae5b19e4af_1_529"/>
          <p:cNvSpPr txBox="1"/>
          <p:nvPr>
            <p:ph idx="1" type="subTitle"/>
          </p:nvPr>
        </p:nvSpPr>
        <p:spPr>
          <a:xfrm>
            <a:off x="5816375" y="1933213"/>
            <a:ext cx="21858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Team Members: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Artemiy Polyanskiy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 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Tizian Henze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William Chan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Kyle Chan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g3ae5b19e4af_1_5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4496" y="3486729"/>
            <a:ext cx="10011250" cy="185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ae5b19e4af_1_529"/>
          <p:cNvSpPr txBox="1"/>
          <p:nvPr/>
        </p:nvSpPr>
        <p:spPr>
          <a:xfrm>
            <a:off x="713225" y="1869703"/>
            <a:ext cx="4114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Comparative Analysis of Black-Scholes &amp; Monte Carlo</a:t>
            </a:r>
            <a:endParaRPr sz="18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7" name="Google Shape;237;g3ae5b19e4af_1_529"/>
          <p:cNvSpPr txBox="1"/>
          <p:nvPr>
            <p:ph idx="1" type="subTitle"/>
          </p:nvPr>
        </p:nvSpPr>
        <p:spPr>
          <a:xfrm>
            <a:off x="5816375" y="455913"/>
            <a:ext cx="21858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Institution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Stony Brook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AMS 325: Applied Mathematics and Statistics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e5b19e4af_1_539"/>
          <p:cNvSpPr txBox="1"/>
          <p:nvPr>
            <p:ph type="title"/>
          </p:nvPr>
        </p:nvSpPr>
        <p:spPr>
          <a:xfrm>
            <a:off x="720000" y="481225"/>
            <a:ext cx="820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Project Objective: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Pricing Options for Omnicom Group Inc. (OMC)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4" name="Google Shape;244;g3ae5b19e4af_1_539"/>
          <p:cNvSpPr txBox="1"/>
          <p:nvPr>
            <p:ph idx="1" type="subTitle"/>
          </p:nvPr>
        </p:nvSpPr>
        <p:spPr>
          <a:xfrm>
            <a:off x="3187800" y="2350625"/>
            <a:ext cx="23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Comparing the analytical Black-Scholes model with the numerical Monte Carlo Simulation to prove convergence.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5" name="Google Shape;245;g3ae5b19e4af_1_539"/>
          <p:cNvSpPr txBox="1"/>
          <p:nvPr>
            <p:ph idx="2" type="subTitle"/>
          </p:nvPr>
        </p:nvSpPr>
        <p:spPr>
          <a:xfrm>
            <a:off x="720000" y="2350625"/>
            <a:ext cx="205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4"/>
              <a:buFont typeface="Calibri"/>
              <a:buNone/>
            </a:pP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To model the stock price dynamics of Omnicom Group Inc. (OMC) and price European Call and Put options.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6" name="Google Shape;246;g3ae5b19e4af_1_539"/>
          <p:cNvSpPr txBox="1"/>
          <p:nvPr>
            <p:ph idx="3" type="subTitle"/>
          </p:nvPr>
        </p:nvSpPr>
        <p:spPr>
          <a:xfrm>
            <a:off x="3151582" y="1865825"/>
            <a:ext cx="2505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Validation Method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7" name="Google Shape;247;g3ae5b19e4af_1_539"/>
          <p:cNvSpPr txBox="1"/>
          <p:nvPr>
            <p:ph idx="4" type="subTitle"/>
          </p:nvPr>
        </p:nvSpPr>
        <p:spPr>
          <a:xfrm>
            <a:off x="720000" y="1865825"/>
            <a:ext cx="2505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Primary Goal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8" name="Google Shape;248;g3ae5b19e4af_1_539"/>
          <p:cNvSpPr txBox="1"/>
          <p:nvPr>
            <p:ph idx="1" type="subTitle"/>
          </p:nvPr>
        </p:nvSpPr>
        <p:spPr>
          <a:xfrm>
            <a:off x="6045794" y="2350631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rPr b="1" lang="en-US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Stock:</a:t>
            </a: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 Omnicom Group Inc. (OMC)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Spot Price (S₀):</a:t>
            </a: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 $73.15</a:t>
            </a:r>
            <a:endParaRPr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Strike Price (K):</a:t>
            </a: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 $65.00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Time to Maturity (T):</a:t>
            </a: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 1 Year</a:t>
            </a:r>
            <a:endParaRPr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Risk-Free Rate (r):</a:t>
            </a:r>
            <a:r>
              <a:rPr lang="en-US">
                <a:solidFill>
                  <a:srgbClr val="333333"/>
                </a:solidFill>
                <a:latin typeface="Questrial"/>
                <a:ea typeface="Questrial"/>
                <a:cs typeface="Questrial"/>
                <a:sym typeface="Questrial"/>
              </a:rPr>
              <a:t> 3.97%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Calibri"/>
              <a:buNone/>
            </a:pPr>
            <a:r>
              <a:t/>
            </a:r>
            <a:endParaRPr>
              <a:solidFill>
                <a:srgbClr val="333333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49" name="Google Shape;249;g3ae5b19e4af_1_539"/>
          <p:cNvSpPr txBox="1"/>
          <p:nvPr>
            <p:ph idx="3" type="subTitle"/>
          </p:nvPr>
        </p:nvSpPr>
        <p:spPr>
          <a:xfrm>
            <a:off x="6045795" y="1865825"/>
            <a:ext cx="2505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Key Parameters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5b19e4af_1_560"/>
          <p:cNvSpPr txBox="1"/>
          <p:nvPr>
            <p:ph type="title"/>
          </p:nvPr>
        </p:nvSpPr>
        <p:spPr>
          <a:xfrm>
            <a:off x="720000" y="5989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Three-Step Methodology for Option Pricing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6" name="Google Shape;256;g3ae5b19e4af_1_560"/>
          <p:cNvSpPr txBox="1"/>
          <p:nvPr>
            <p:ph idx="1" type="subTitle"/>
          </p:nvPr>
        </p:nvSpPr>
        <p:spPr>
          <a:xfrm>
            <a:off x="716600" y="224290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Estimate key parameters, primarily the Volatility (σ), from historical market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e5b19e4af_1_560"/>
          <p:cNvSpPr txBox="1"/>
          <p:nvPr>
            <p:ph idx="2" type="subTitle"/>
          </p:nvPr>
        </p:nvSpPr>
        <p:spPr>
          <a:xfrm>
            <a:off x="3272911" y="224290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Calculate the exact theoretical option price using the Black-Scholes formula.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e5b19e4af_1_560"/>
          <p:cNvSpPr txBox="1"/>
          <p:nvPr>
            <p:ph idx="3" type="subTitle"/>
          </p:nvPr>
        </p:nvSpPr>
        <p:spPr>
          <a:xfrm>
            <a:off x="5925733" y="2242900"/>
            <a:ext cx="2107500" cy="11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Approximate the option price using Monte Carlo Simulation (10,000 paths) to validate the analytical result.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ae5b19e4af_1_560"/>
          <p:cNvSpPr txBox="1"/>
          <p:nvPr>
            <p:ph idx="4" type="subTitle"/>
          </p:nvPr>
        </p:nvSpPr>
        <p:spPr>
          <a:xfrm>
            <a:off x="720000" y="1814500"/>
            <a:ext cx="2283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Calibration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60" name="Google Shape;260;g3ae5b19e4af_1_560"/>
          <p:cNvSpPr txBox="1"/>
          <p:nvPr>
            <p:ph idx="5" type="subTitle"/>
          </p:nvPr>
        </p:nvSpPr>
        <p:spPr>
          <a:xfrm>
            <a:off x="3276477" y="1814500"/>
            <a:ext cx="2283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Analytical Pricing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61" name="Google Shape;261;g3ae5b19e4af_1_560"/>
          <p:cNvSpPr txBox="1"/>
          <p:nvPr>
            <p:ph idx="6" type="subTitle"/>
          </p:nvPr>
        </p:nvSpPr>
        <p:spPr>
          <a:xfrm>
            <a:off x="5936258" y="1814500"/>
            <a:ext cx="337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Numerical Validation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5b19e4af_1_5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Modeling Stock Dynamics with Geometric Brownian Motion (GBM)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68" name="Google Shape;268;g3ae5b19e4af_1_576"/>
          <p:cNvSpPr txBox="1"/>
          <p:nvPr>
            <p:ph idx="1" type="subTitle"/>
          </p:nvPr>
        </p:nvSpPr>
        <p:spPr>
          <a:xfrm>
            <a:off x="4600075" y="2140479"/>
            <a:ext cx="3824100" cy="19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Drift: μ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Represents the expected return of the stock, the deterministic trend component. In our case, we used the risk-free interest rate since our goal was to model option prices.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Volatility: σ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Represents the magnitude of price fluctuations and the "risk" of the stock.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Randomness: W</a:t>
            </a:r>
            <a:r>
              <a:rPr b="1" baseline="-25000" lang="en-US"/>
              <a:t>t</a:t>
            </a:r>
            <a:endParaRPr b="1" baseline="-25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Wiener process (Brownian motion) that introduces stochasticity into the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e5b19e4af_1_576"/>
          <p:cNvSpPr txBox="1"/>
          <p:nvPr>
            <p:ph idx="3" type="subTitle"/>
          </p:nvPr>
        </p:nvSpPr>
        <p:spPr>
          <a:xfrm>
            <a:off x="720000" y="1514825"/>
            <a:ext cx="3824100" cy="108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Equation:</a:t>
            </a:r>
            <a:endParaRPr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70" name="Google Shape;270;g3ae5b19e4af_1_576"/>
          <p:cNvSpPr txBox="1"/>
          <p:nvPr>
            <p:ph idx="3" type="subTitle"/>
          </p:nvPr>
        </p:nvSpPr>
        <p:spPr>
          <a:xfrm>
            <a:off x="4600075" y="1609775"/>
            <a:ext cx="3824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Key Components: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71" name="Google Shape;271;g3ae5b19e4af_1_5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2183100"/>
            <a:ext cx="3552623" cy="7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e5b19e4af_1_601"/>
          <p:cNvSpPr txBox="1"/>
          <p:nvPr>
            <p:ph type="title"/>
          </p:nvPr>
        </p:nvSpPr>
        <p:spPr>
          <a:xfrm>
            <a:off x="65114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Data &amp; Calibration: Estimating Volatility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78" name="Google Shape;278;g3ae5b19e4af_1_601"/>
          <p:cNvSpPr txBox="1"/>
          <p:nvPr>
            <p:ph idx="1" type="subTitle"/>
          </p:nvPr>
        </p:nvSpPr>
        <p:spPr>
          <a:xfrm>
            <a:off x="654482" y="190535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Stock price data for OMC was retrieved using the </a:t>
            </a:r>
            <a:r>
              <a:rPr b="1" lang="en-US"/>
              <a:t>yfinance </a:t>
            </a:r>
            <a:r>
              <a:rPr lang="en-US"/>
              <a:t>library.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e5b19e4af_1_601"/>
          <p:cNvSpPr txBox="1"/>
          <p:nvPr>
            <p:ph idx="2" type="subTitle"/>
          </p:nvPr>
        </p:nvSpPr>
        <p:spPr>
          <a:xfrm>
            <a:off x="3212629" y="1905360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critical parameter, Volatility (σ), was estimated from the last 252 days of historical closing prices.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e5b19e4af_1_601"/>
          <p:cNvSpPr txBox="1"/>
          <p:nvPr>
            <p:ph idx="3" type="subTitle"/>
          </p:nvPr>
        </p:nvSpPr>
        <p:spPr>
          <a:xfrm>
            <a:off x="6143788" y="1905351"/>
            <a:ext cx="22836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6">
                <a:highlight>
                  <a:schemeClr val="dk2"/>
                </a:highlight>
                <a:latin typeface="Calibri"/>
                <a:ea typeface="Calibri"/>
                <a:cs typeface="Calibri"/>
                <a:sym typeface="Calibri"/>
              </a:rPr>
              <a:t>31.77%</a:t>
            </a:r>
            <a:endParaRPr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Estimated from 252-day historical closing price data of Omnicom Group Inc. (OMC)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ae5b19e4af_1_601"/>
          <p:cNvSpPr txBox="1"/>
          <p:nvPr>
            <p:ph idx="4" type="subTitle"/>
          </p:nvPr>
        </p:nvSpPr>
        <p:spPr>
          <a:xfrm>
            <a:off x="654482" y="1461825"/>
            <a:ext cx="2283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Data Source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2" name="Google Shape;282;g3ae5b19e4af_1_601"/>
          <p:cNvSpPr txBox="1"/>
          <p:nvPr>
            <p:ph idx="5" type="subTitle"/>
          </p:nvPr>
        </p:nvSpPr>
        <p:spPr>
          <a:xfrm>
            <a:off x="3145293" y="1461825"/>
            <a:ext cx="293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Parameter Estimation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3" name="Google Shape;283;g3ae5b19e4af_1_601"/>
          <p:cNvSpPr txBox="1"/>
          <p:nvPr>
            <p:ph idx="6" type="subTitle"/>
          </p:nvPr>
        </p:nvSpPr>
        <p:spPr>
          <a:xfrm>
            <a:off x="6143806" y="1461825"/>
            <a:ext cx="3448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Figtree"/>
                <a:ea typeface="Figtree"/>
                <a:cs typeface="Figtree"/>
                <a:sym typeface="Figtree"/>
              </a:rPr>
              <a:t>Calibrated Volatility (σ)</a:t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5b19e4af_1_612"/>
          <p:cNvSpPr txBox="1"/>
          <p:nvPr>
            <p:ph type="title"/>
          </p:nvPr>
        </p:nvSpPr>
        <p:spPr>
          <a:xfrm>
            <a:off x="720000" y="445025"/>
            <a:ext cx="842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Figtree"/>
                <a:ea typeface="Figtree"/>
                <a:cs typeface="Figtree"/>
                <a:sym typeface="Figtree"/>
              </a:rPr>
              <a:t>Black-Scholes Model: The Analytical Solution</a:t>
            </a:r>
            <a:endParaRPr b="1" sz="29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0" name="Google Shape;290;g3ae5b19e4af_1_612"/>
          <p:cNvSpPr txBox="1"/>
          <p:nvPr>
            <p:ph idx="1" type="subTitle"/>
          </p:nvPr>
        </p:nvSpPr>
        <p:spPr>
          <a:xfrm>
            <a:off x="4599988" y="2676975"/>
            <a:ext cx="3824100" cy="181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$10.15</a:t>
            </a:r>
            <a:endParaRPr b="1" sz="303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European Put</a:t>
            </a:r>
            <a:endParaRPr sz="1200"/>
          </a:p>
        </p:txBody>
      </p:sp>
      <p:sp>
        <p:nvSpPr>
          <p:cNvPr id="291" name="Google Shape;291;g3ae5b19e4af_1_612"/>
          <p:cNvSpPr txBox="1"/>
          <p:nvPr>
            <p:ph idx="2" type="subTitle"/>
          </p:nvPr>
        </p:nvSpPr>
        <p:spPr>
          <a:xfrm>
            <a:off x="719913" y="2676975"/>
            <a:ext cx="3824100" cy="181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6"/>
              <a:buFont typeface="Calibri"/>
              <a:buNone/>
            </a:pPr>
            <a:r>
              <a:rPr b="1" lang="en-US" sz="303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$15.14</a:t>
            </a:r>
            <a:endParaRPr sz="30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European Call</a:t>
            </a:r>
            <a:endParaRPr sz="1200"/>
          </a:p>
        </p:txBody>
      </p:sp>
      <p:sp>
        <p:nvSpPr>
          <p:cNvPr id="292" name="Google Shape;292;g3ae5b19e4af_1_612"/>
          <p:cNvSpPr txBox="1"/>
          <p:nvPr>
            <p:ph idx="3" type="subTitle"/>
          </p:nvPr>
        </p:nvSpPr>
        <p:spPr>
          <a:xfrm>
            <a:off x="747900" y="834111"/>
            <a:ext cx="7648200" cy="9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The Black-Scholes formula provides a closed-form, exact solution for pricing European options under the Geometric Brownian Motion assumption.</a:t>
            </a:r>
            <a:endParaRPr sz="1700"/>
          </a:p>
        </p:txBody>
      </p:sp>
      <p:sp>
        <p:nvSpPr>
          <p:cNvPr id="293" name="Google Shape;293;g3ae5b19e4af_1_612"/>
          <p:cNvSpPr txBox="1"/>
          <p:nvPr>
            <p:ph idx="3" type="subTitle"/>
          </p:nvPr>
        </p:nvSpPr>
        <p:spPr>
          <a:xfrm>
            <a:off x="720000" y="2017697"/>
            <a:ext cx="8424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Figtree"/>
                <a:ea typeface="Figtree"/>
                <a:cs typeface="Figtree"/>
                <a:sym typeface="Figtree"/>
              </a:rPr>
              <a:t>Analytical Results for OMC Options</a:t>
            </a:r>
            <a:endParaRPr b="1" sz="17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4" name="Google Shape;294;g3ae5b19e4af_1_612"/>
          <p:cNvSpPr txBox="1"/>
          <p:nvPr/>
        </p:nvSpPr>
        <p:spPr>
          <a:xfrm>
            <a:off x="719925" y="2677000"/>
            <a:ext cx="3824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Call Option Price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5" name="Google Shape;295;g3ae5b19e4af_1_612"/>
          <p:cNvSpPr txBox="1"/>
          <p:nvPr/>
        </p:nvSpPr>
        <p:spPr>
          <a:xfrm>
            <a:off x="4544025" y="2677000"/>
            <a:ext cx="38241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Put Option Price</a:t>
            </a: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e5b19e4af_1_633"/>
          <p:cNvSpPr txBox="1"/>
          <p:nvPr>
            <p:ph type="title"/>
          </p:nvPr>
        </p:nvSpPr>
        <p:spPr>
          <a:xfrm>
            <a:off x="674723" y="445025"/>
            <a:ext cx="834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Monte Carlo Simulation: The Numerical Approximation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2" name="Google Shape;302;g3ae5b19e4af_1_633"/>
          <p:cNvSpPr txBox="1"/>
          <p:nvPr>
            <p:ph idx="1" type="subTitle"/>
          </p:nvPr>
        </p:nvSpPr>
        <p:spPr>
          <a:xfrm>
            <a:off x="591804" y="166925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Simulate 10,000 independent stock price paths from S₀ to S</a:t>
            </a:r>
            <a:r>
              <a:rPr baseline="-25000" lang="en-US" sz="1200"/>
              <a:t>T</a:t>
            </a:r>
            <a:r>
              <a:rPr lang="en-US" sz="1200"/>
              <a:t> using the discretized GBM equation.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e5b19e4af_1_633"/>
          <p:cNvSpPr txBox="1"/>
          <p:nvPr>
            <p:ph idx="2" type="subTitle"/>
          </p:nvPr>
        </p:nvSpPr>
        <p:spPr>
          <a:xfrm>
            <a:off x="2615845" y="166925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Calculate the payoff for each path at maturity T: max(S</a:t>
            </a:r>
            <a:r>
              <a:rPr baseline="-25000" lang="en-US" sz="1200"/>
              <a:t>T</a:t>
            </a:r>
            <a:r>
              <a:rPr lang="en-US" sz="1200"/>
              <a:t> − K, 0) for a Call option.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ae5b19e4af_1_633"/>
          <p:cNvSpPr txBox="1"/>
          <p:nvPr>
            <p:ph idx="3" type="subTitle"/>
          </p:nvPr>
        </p:nvSpPr>
        <p:spPr>
          <a:xfrm>
            <a:off x="2354279" y="340700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Average the payoffs across all 10,000 paths to obtain the expected payoff.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5" name="Google Shape;305;g3ae5b19e4af_1_633"/>
          <p:cNvSpPr txBox="1"/>
          <p:nvPr>
            <p:ph idx="4" type="subTitle"/>
          </p:nvPr>
        </p:nvSpPr>
        <p:spPr>
          <a:xfrm>
            <a:off x="517070" y="340700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Discount the average payoff back to the present value using the risk-free rate r.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6" name="Google Shape;306;g3ae5b19e4af_1_633"/>
          <p:cNvSpPr txBox="1"/>
          <p:nvPr>
            <p:ph idx="5" type="subTitle"/>
          </p:nvPr>
        </p:nvSpPr>
        <p:spPr>
          <a:xfrm>
            <a:off x="591793" y="1304250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1)</a:t>
            </a:r>
            <a:endParaRPr b="1"/>
          </a:p>
        </p:txBody>
      </p:sp>
      <p:sp>
        <p:nvSpPr>
          <p:cNvPr id="307" name="Google Shape;307;g3ae5b19e4af_1_633"/>
          <p:cNvSpPr txBox="1"/>
          <p:nvPr>
            <p:ph idx="6" type="subTitle"/>
          </p:nvPr>
        </p:nvSpPr>
        <p:spPr>
          <a:xfrm>
            <a:off x="517068" y="2986175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3)</a:t>
            </a:r>
            <a:endParaRPr b="1"/>
          </a:p>
        </p:txBody>
      </p:sp>
      <p:sp>
        <p:nvSpPr>
          <p:cNvPr id="308" name="Google Shape;308;g3ae5b19e4af_1_633"/>
          <p:cNvSpPr txBox="1"/>
          <p:nvPr>
            <p:ph idx="7" type="subTitle"/>
          </p:nvPr>
        </p:nvSpPr>
        <p:spPr>
          <a:xfrm>
            <a:off x="2615830" y="1304250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2)</a:t>
            </a:r>
            <a:endParaRPr b="1"/>
          </a:p>
        </p:txBody>
      </p:sp>
      <p:sp>
        <p:nvSpPr>
          <p:cNvPr id="309" name="Google Shape;309;g3ae5b19e4af_1_633"/>
          <p:cNvSpPr txBox="1"/>
          <p:nvPr>
            <p:ph idx="8" type="subTitle"/>
          </p:nvPr>
        </p:nvSpPr>
        <p:spPr>
          <a:xfrm>
            <a:off x="2354280" y="2986175"/>
            <a:ext cx="1978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4)</a:t>
            </a:r>
            <a:endParaRPr b="1"/>
          </a:p>
        </p:txBody>
      </p:sp>
      <p:pic>
        <p:nvPicPr>
          <p:cNvPr id="310" name="Google Shape;310;g3ae5b19e4af_1_6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125" y="1401225"/>
            <a:ext cx="4471974" cy="27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bbc59364_1_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Option Price Distribution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7" name="Google Shape;317;g3aebbc59364_1_0"/>
          <p:cNvSpPr txBox="1"/>
          <p:nvPr>
            <p:ph idx="1" type="body"/>
          </p:nvPr>
        </p:nvSpPr>
        <p:spPr>
          <a:xfrm>
            <a:off x="720000" y="1139547"/>
            <a:ext cx="3811800" cy="3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final </a:t>
            </a:r>
            <a:r>
              <a:rPr lang="en-US"/>
              <a:t>distribution</a:t>
            </a:r>
            <a:r>
              <a:rPr lang="en-US"/>
              <a:t> of predicted fair option prices from the Monte Carlo simulation. The </a:t>
            </a:r>
            <a:r>
              <a:rPr lang="en-US"/>
              <a:t>formula</a:t>
            </a:r>
            <a:r>
              <a:rPr lang="en-US"/>
              <a:t> we used to convert the predicted stock prices to fair option </a:t>
            </a:r>
            <a:r>
              <a:rPr lang="en-US"/>
              <a:t>prices 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 call,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max(S</a:t>
            </a:r>
            <a:r>
              <a:rPr baseline="-25000" lang="en-US"/>
              <a:t>T</a:t>
            </a:r>
            <a:r>
              <a:rPr lang="en-US"/>
              <a:t> − K, 0) * discount factor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a put,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max(K - S</a:t>
            </a:r>
            <a:r>
              <a:rPr baseline="-25000" lang="en-US"/>
              <a:t>T</a:t>
            </a:r>
            <a:r>
              <a:rPr lang="en-US"/>
              <a:t>, 0) * discount factor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where,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discount factor = e</a:t>
            </a:r>
            <a:r>
              <a:rPr baseline="30000" lang="en-US"/>
              <a:t>(-r * T)</a:t>
            </a:r>
            <a:endParaRPr baseline="30000"/>
          </a:p>
        </p:txBody>
      </p:sp>
      <p:pic>
        <p:nvPicPr>
          <p:cNvPr id="318" name="Google Shape;318;g3aebbc59364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200" y="1170125"/>
            <a:ext cx="4307400" cy="3393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e5b19e4af_1_648"/>
          <p:cNvSpPr txBox="1"/>
          <p:nvPr>
            <p:ph type="title"/>
          </p:nvPr>
        </p:nvSpPr>
        <p:spPr>
          <a:xfrm>
            <a:off x="674723" y="436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Validation: Convergence of Numerical and Analytical Results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graphicFrame>
        <p:nvGraphicFramePr>
          <p:cNvPr id="325" name="Google Shape;325;g3ae5b19e4af_1_648"/>
          <p:cNvGraphicFramePr/>
          <p:nvPr/>
        </p:nvGraphicFramePr>
        <p:xfrm>
          <a:off x="766950" y="163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{0625CF50-1B81-431D-821A-904D3E203742}</a:tableStyleId>
              </a:tblPr>
              <a:tblGrid>
                <a:gridCol w="1902525"/>
                <a:gridCol w="1902525"/>
                <a:gridCol w="1902525"/>
                <a:gridCol w="1902525"/>
              </a:tblGrid>
              <a:tr h="64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Option Type</a:t>
                      </a:r>
                      <a:endParaRPr b="1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Black-Scholes (Analytical)</a:t>
                      </a:r>
                      <a:endParaRPr b="1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Monte Carlo (Numerical)</a:t>
                      </a:r>
                      <a:endParaRPr b="1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Difference (Error)</a:t>
                      </a:r>
                      <a:endParaRPr b="1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49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Call Option</a:t>
                      </a:r>
                      <a:endParaRPr b="1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$15.14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$14.95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$0.19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6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Put Option</a:t>
                      </a:r>
                      <a:endParaRPr b="1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$10.15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$10.23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$0.08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g3ae5b19e4af_1_648"/>
          <p:cNvSpPr txBox="1"/>
          <p:nvPr/>
        </p:nvSpPr>
        <p:spPr>
          <a:xfrm>
            <a:off x="663667" y="3339993"/>
            <a:ext cx="7172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Key Findings: 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Convergence Achieved:</a:t>
            </a:r>
            <a:r>
              <a:rPr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The Monte Carlo simulation results are extremely close to the Black-Scholes prices, demonstrating the convergence of the numerical method.</a:t>
            </a:r>
            <a:endParaRPr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Error Analysis:</a:t>
            </a:r>
            <a:r>
              <a:rPr lang="en-US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The small differences (≤ 1.3%) are expected due to the nature of Monte Carlo approximation (sampling error).</a:t>
            </a:r>
            <a:endParaRPr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e5b19e4af_1_6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Figtree"/>
                <a:ea typeface="Figtree"/>
                <a:cs typeface="Figtree"/>
                <a:sym typeface="Figtree"/>
              </a:rPr>
              <a:t>Conclusion: A Robust and Validated Model</a:t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3" name="Google Shape;333;g3ae5b19e4af_1_661"/>
          <p:cNvSpPr txBox="1"/>
          <p:nvPr>
            <p:ph idx="1" type="subTitle"/>
          </p:nvPr>
        </p:nvSpPr>
        <p:spPr>
          <a:xfrm>
            <a:off x="720000" y="2451690"/>
            <a:ext cx="25206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Model Validity: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Geometric Brownian Motion model successfully captured the stock price dynamics of OMC.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ae5b19e4af_1_661"/>
          <p:cNvSpPr txBox="1"/>
          <p:nvPr>
            <p:ph idx="2" type="subTitle"/>
          </p:nvPr>
        </p:nvSpPr>
        <p:spPr>
          <a:xfrm>
            <a:off x="720000" y="1939265"/>
            <a:ext cx="38241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/>
              <a:t>Key Takeaways:</a:t>
            </a:r>
            <a:endParaRPr b="1" sz="2000" u="sng"/>
          </a:p>
        </p:txBody>
      </p:sp>
      <p:sp>
        <p:nvSpPr>
          <p:cNvPr id="335" name="Google Shape;335;g3ae5b19e4af_1_661"/>
          <p:cNvSpPr txBox="1"/>
          <p:nvPr>
            <p:ph idx="3" type="subTitle"/>
          </p:nvPr>
        </p:nvSpPr>
        <p:spPr>
          <a:xfrm>
            <a:off x="720000" y="1416425"/>
            <a:ext cx="7704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The project successfully demonstrated a comprehensive comparative analysis of two fundamental option pricing techniques, yielding highly consistent and reliable results.</a:t>
            </a:r>
            <a:endParaRPr sz="1500"/>
          </a:p>
        </p:txBody>
      </p:sp>
      <p:sp>
        <p:nvSpPr>
          <p:cNvPr id="336" name="Google Shape;336;g3ae5b19e4af_1_661"/>
          <p:cNvSpPr txBox="1"/>
          <p:nvPr>
            <p:ph idx="1" type="subTitle"/>
          </p:nvPr>
        </p:nvSpPr>
        <p:spPr>
          <a:xfrm>
            <a:off x="3453825" y="2451690"/>
            <a:ext cx="25206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Methodology Success: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Monte Carlo Simulation validated the analytical Black-Scholes results, confirming robustness.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e5b19e4af_1_661"/>
          <p:cNvSpPr txBox="1"/>
          <p:nvPr>
            <p:ph idx="1" type="subTitle"/>
          </p:nvPr>
        </p:nvSpPr>
        <p:spPr>
          <a:xfrm>
            <a:off x="6187650" y="2451690"/>
            <a:ext cx="25206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Key Driver: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Volatility (σ = 31.77%) remains the most influential and sensitive parameter in option pricing.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ae5b19e4af_1_661"/>
          <p:cNvSpPr txBox="1"/>
          <p:nvPr/>
        </p:nvSpPr>
        <p:spPr>
          <a:xfrm>
            <a:off x="880725" y="4042866"/>
            <a:ext cx="76668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The convergence of numerical and analytical methods demonstrates the reliability of our pricing framework for practical applications.</a:t>
            </a:r>
            <a:endParaRPr sz="13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earch Report for Education by Slidesgo">
  <a:themeElements>
    <a:clrScheme name="Simple Light">
      <a:dk1>
        <a:srgbClr val="273538"/>
      </a:dk1>
      <a:lt1>
        <a:srgbClr val="F8F8F8"/>
      </a:lt1>
      <a:dk2>
        <a:srgbClr val="C8F0B9"/>
      </a:dk2>
      <a:lt2>
        <a:srgbClr val="A4EDBC"/>
      </a:lt2>
      <a:accent1>
        <a:srgbClr val="75E9C1"/>
      </a:accent1>
      <a:accent2>
        <a:srgbClr val="40E2C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2025-12-07T23:38:28Z</dcterms:created>
  <dc:creator>PptxGenJS</dc:creator>
</cp:coreProperties>
</file>